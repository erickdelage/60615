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62" r:id="rId3"/>
    <p:sldId id="263" r:id="rId4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>
      <p:cViewPr varScale="1">
        <p:scale>
          <a:sx n="121" d="100"/>
          <a:sy n="121" d="100"/>
        </p:scale>
        <p:origin x="69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B841FF-A4D1-435E-9DC0-F6E89DCAA0C6}" type="datetimeFigureOut">
              <a:rPr lang="fr-CA" smtClean="0"/>
              <a:t>2022-02-11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1A37D6-F10D-4A1A-98B1-41286D4A31EB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52036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464E24C-4E02-4CF8-9087-9E10632080E6}" type="slidenum">
              <a:rPr lang="fr-CA"/>
              <a:pPr/>
              <a:t>1</a:t>
            </a:fld>
            <a:endParaRPr lang="fr-CA"/>
          </a:p>
        </p:txBody>
      </p:sp>
      <p:sp>
        <p:nvSpPr>
          <p:cNvPr id="314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4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715128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33DD5D8-9F85-4779-BE6A-75D3A92C9775}" type="slidenum">
              <a:rPr lang="fr-CA"/>
              <a:pPr/>
              <a:t>3</a:t>
            </a:fld>
            <a:endParaRPr lang="fr-CA"/>
          </a:p>
        </p:txBody>
      </p:sp>
      <p:sp>
        <p:nvSpPr>
          <p:cNvPr id="315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5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794716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11/02/2022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11/02/2022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11/02/2022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11/02/2022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11/02/2022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11/02/2022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11/02/2022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11/02/2022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11/02/2022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11/02/2022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11/02/2022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t>11/02/2022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t>‹#›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Utilisation sérieuse du logiciel</a:t>
            </a:r>
          </a:p>
        </p:txBody>
      </p:sp>
      <p:sp>
        <p:nvSpPr>
          <p:cNvPr id="165888" name="Content Placeholder 16588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Étudions ce qu’impliquent les dynamiques suivantes pour le problème de construction d’une central nucléaire.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/>
              <a:t>Automne 2014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Analyse de décision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5FB68-32E8-45EF-8AAA-1A62CFEC6962}" type="slidenum">
              <a:rPr lang="fr-FR"/>
              <a:pPr/>
              <a:t>1</a:t>
            </a:fld>
            <a:endParaRPr lang="fr-FR"/>
          </a:p>
        </p:txBody>
      </p:sp>
      <p:sp>
        <p:nvSpPr>
          <p:cNvPr id="2" name="Rectangle 1"/>
          <p:cNvSpPr/>
          <p:nvPr/>
        </p:nvSpPr>
        <p:spPr bwMode="auto">
          <a:xfrm>
            <a:off x="539552" y="3281680"/>
            <a:ext cx="1340048" cy="10795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3600" tIns="46800" rIns="936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Symbol" pitchFamily="18" charset="2"/>
              <a:buNone/>
              <a:tabLst/>
            </a:pPr>
            <a:r>
              <a:rPr kumimoji="0" lang="fr-C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Étude de réalisabilité</a:t>
            </a:r>
            <a:endParaRPr kumimoji="0" lang="en-C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2501900" y="3281680"/>
            <a:ext cx="1663700" cy="1079500"/>
          </a:xfrm>
          <a:prstGeom prst="ellipse">
            <a:avLst/>
          </a:prstGeom>
          <a:solidFill>
            <a:srgbClr val="FF7C80"/>
          </a:solidFill>
          <a:ln w="9525" cap="flat" cmpd="sng" algn="ctr">
            <a:solidFill>
              <a:srgbClr val="99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3600" tIns="46800" rIns="936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Symbol" pitchFamily="18" charset="2"/>
              <a:buNone/>
              <a:tabLst/>
            </a:pPr>
            <a:r>
              <a:rPr lang="fr-CA" sz="1800" dirty="0"/>
              <a:t>Efficacité de la centrale</a:t>
            </a:r>
            <a:endParaRPr lang="en-CA" sz="1800" dirty="0"/>
          </a:p>
        </p:txBody>
      </p:sp>
      <p:sp>
        <p:nvSpPr>
          <p:cNvPr id="10" name="Rectangle 9"/>
          <p:cNvSpPr/>
          <p:nvPr/>
        </p:nvSpPr>
        <p:spPr bwMode="auto">
          <a:xfrm>
            <a:off x="4775200" y="3281680"/>
            <a:ext cx="1376680" cy="10795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3600" tIns="46800" rIns="936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Symbol" pitchFamily="18" charset="2"/>
              <a:buNone/>
              <a:tabLst/>
            </a:pPr>
            <a:r>
              <a:rPr kumimoji="0" lang="fr-C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Application pour la licence</a:t>
            </a:r>
            <a:endParaRPr kumimoji="0" lang="en-C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6502400" y="3281680"/>
            <a:ext cx="2030040" cy="1079500"/>
          </a:xfrm>
          <a:prstGeom prst="ellipse">
            <a:avLst/>
          </a:prstGeom>
          <a:solidFill>
            <a:srgbClr val="FF7C80"/>
          </a:solidFill>
          <a:ln w="9525" cap="flat" cmpd="sng" algn="ctr">
            <a:solidFill>
              <a:srgbClr val="99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3600" tIns="46800" rIns="936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Symbol" pitchFamily="18" charset="2"/>
              <a:buNone/>
              <a:tabLst/>
            </a:pPr>
            <a:r>
              <a:rPr lang="fr-CA" sz="1800" dirty="0"/>
              <a:t>Résultat du projet de loi</a:t>
            </a:r>
            <a:endParaRPr lang="en-CA" sz="1800" dirty="0"/>
          </a:p>
        </p:txBody>
      </p:sp>
      <p:sp>
        <p:nvSpPr>
          <p:cNvPr id="12" name="Rectangle 11"/>
          <p:cNvSpPr/>
          <p:nvPr/>
        </p:nvSpPr>
        <p:spPr bwMode="auto">
          <a:xfrm>
            <a:off x="395536" y="5072380"/>
            <a:ext cx="1478984" cy="10795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3600" tIns="46800" rIns="936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Symbol" pitchFamily="18" charset="2"/>
              <a:buNone/>
              <a:tabLst/>
            </a:pPr>
            <a:r>
              <a:rPr kumimoji="0" lang="fr-C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Construction</a:t>
            </a:r>
            <a:endParaRPr kumimoji="0" lang="en-C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2570480" y="4907280"/>
            <a:ext cx="3581400" cy="1409700"/>
          </a:xfrm>
          <a:prstGeom prst="ellipse">
            <a:avLst/>
          </a:prstGeom>
          <a:solidFill>
            <a:srgbClr val="FF7C80"/>
          </a:solidFill>
          <a:ln w="9525" cap="flat" cmpd="sng" algn="ctr">
            <a:solidFill>
              <a:srgbClr val="99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3600" tIns="46800" rIns="93600" bIns="46800" numCol="1" rtlCol="0" anchor="ctr" anchorCtr="0" compatLnSpc="1">
            <a:prstTxWarp prst="textNoShape">
              <a:avLst/>
            </a:prstTxWarp>
          </a:bodyPr>
          <a:lstStyle/>
          <a:p>
            <a:pPr marL="285750" marR="0" indent="-285750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lang="fr-CA" sz="1800" dirty="0"/>
              <a:t>Prix de l’électricité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fr-CA" sz="1800" dirty="0"/>
              <a:t>Coûts variables</a:t>
            </a:r>
            <a:endParaRPr lang="en-CA" sz="1800" dirty="0"/>
          </a:p>
          <a:p>
            <a:pPr marL="285750" indent="-285750">
              <a:buFont typeface="Arial" pitchFamily="34" charset="0"/>
              <a:buChar char="•"/>
            </a:pPr>
            <a:r>
              <a:rPr lang="fr-CA" sz="1800" dirty="0"/>
              <a:t>Coûts de construction</a:t>
            </a:r>
            <a:endParaRPr lang="en-CA" sz="1800" dirty="0"/>
          </a:p>
        </p:txBody>
      </p:sp>
      <p:cxnSp>
        <p:nvCxnSpPr>
          <p:cNvPr id="16" name="Straight Arrow Connector 15"/>
          <p:cNvCxnSpPr>
            <a:stCxn id="2" idx="3"/>
            <a:endCxn id="8" idx="2"/>
          </p:cNvCxnSpPr>
          <p:nvPr/>
        </p:nvCxnSpPr>
        <p:spPr bwMode="auto">
          <a:xfrm>
            <a:off x="1879600" y="3821430"/>
            <a:ext cx="622300" cy="0"/>
          </a:xfrm>
          <a:prstGeom prst="straightConnector1">
            <a:avLst/>
          </a:prstGeom>
          <a:noFill/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med"/>
          </a:ln>
          <a:effectLst/>
        </p:spPr>
      </p:cxnSp>
      <p:cxnSp>
        <p:nvCxnSpPr>
          <p:cNvPr id="18" name="Straight Arrow Connector 17"/>
          <p:cNvCxnSpPr>
            <a:stCxn id="12" idx="3"/>
            <a:endCxn id="13" idx="2"/>
          </p:cNvCxnSpPr>
          <p:nvPr/>
        </p:nvCxnSpPr>
        <p:spPr bwMode="auto">
          <a:xfrm>
            <a:off x="1874520" y="5612130"/>
            <a:ext cx="695960" cy="0"/>
          </a:xfrm>
          <a:prstGeom prst="straightConnector1">
            <a:avLst/>
          </a:prstGeom>
          <a:noFill/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med"/>
          </a:ln>
          <a:effectLst/>
        </p:spPr>
      </p:cxnSp>
      <p:cxnSp>
        <p:nvCxnSpPr>
          <p:cNvPr id="19" name="Straight Arrow Connector 18"/>
          <p:cNvCxnSpPr>
            <a:stCxn id="10" idx="3"/>
            <a:endCxn id="11" idx="2"/>
          </p:cNvCxnSpPr>
          <p:nvPr/>
        </p:nvCxnSpPr>
        <p:spPr bwMode="auto">
          <a:xfrm>
            <a:off x="6151880" y="3821430"/>
            <a:ext cx="350520" cy="0"/>
          </a:xfrm>
          <a:prstGeom prst="straightConnector1">
            <a:avLst/>
          </a:prstGeom>
          <a:noFill/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med"/>
          </a:ln>
          <a:effectLst/>
        </p:spPr>
      </p:cxnSp>
      <p:cxnSp>
        <p:nvCxnSpPr>
          <p:cNvPr id="20" name="Straight Arrow Connector 19"/>
          <p:cNvCxnSpPr>
            <a:stCxn id="8" idx="6"/>
            <a:endCxn id="10" idx="1"/>
          </p:cNvCxnSpPr>
          <p:nvPr/>
        </p:nvCxnSpPr>
        <p:spPr bwMode="auto">
          <a:xfrm>
            <a:off x="4165600" y="3821430"/>
            <a:ext cx="609600" cy="0"/>
          </a:xfrm>
          <a:prstGeom prst="straightConnector1">
            <a:avLst/>
          </a:prstGeom>
          <a:noFill/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med"/>
          </a:ln>
          <a:effectLst/>
        </p:spPr>
      </p:cxnSp>
      <p:cxnSp>
        <p:nvCxnSpPr>
          <p:cNvPr id="25" name="Elbow Connector 24"/>
          <p:cNvCxnSpPr>
            <a:stCxn id="11" idx="4"/>
            <a:endCxn id="12" idx="0"/>
          </p:cNvCxnSpPr>
          <p:nvPr/>
        </p:nvCxnSpPr>
        <p:spPr bwMode="auto">
          <a:xfrm rot="5400000">
            <a:off x="3970624" y="1525584"/>
            <a:ext cx="711200" cy="6382392"/>
          </a:xfrm>
          <a:prstGeom prst="bentConnector3">
            <a:avLst/>
          </a:prstGeom>
          <a:noFill/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med"/>
          </a:ln>
          <a:effectLst/>
        </p:spPr>
      </p:cxnSp>
      <p:sp>
        <p:nvSpPr>
          <p:cNvPr id="28" name="Diamond 27"/>
          <p:cNvSpPr/>
          <p:nvPr/>
        </p:nvSpPr>
        <p:spPr bwMode="auto">
          <a:xfrm>
            <a:off x="6725920" y="4988560"/>
            <a:ext cx="1854200" cy="1244600"/>
          </a:xfrm>
          <a:prstGeom prst="diamond">
            <a:avLst/>
          </a:prstGeom>
          <a:solidFill>
            <a:srgbClr val="FFC000"/>
          </a:solidFill>
          <a:ln w="9525" cap="flat" cmpd="sng" algn="ctr">
            <a:solidFill>
              <a:srgbClr val="99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3600" tIns="46800" rIns="936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Symbol" pitchFamily="18" charset="2"/>
              <a:buNone/>
              <a:tabLst/>
            </a:pPr>
            <a:r>
              <a:rPr kumimoji="0" lang="fr-CA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VAN</a:t>
            </a:r>
            <a:endParaRPr kumimoji="0" lang="en-CA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cxnSp>
        <p:nvCxnSpPr>
          <p:cNvPr id="30" name="Straight Arrow Connector 29"/>
          <p:cNvCxnSpPr>
            <a:stCxn id="13" idx="6"/>
            <a:endCxn id="28" idx="1"/>
          </p:cNvCxnSpPr>
          <p:nvPr/>
        </p:nvCxnSpPr>
        <p:spPr bwMode="auto">
          <a:xfrm flipV="1">
            <a:off x="6151880" y="5610860"/>
            <a:ext cx="574040" cy="1270"/>
          </a:xfrm>
          <a:prstGeom prst="straightConnector1">
            <a:avLst/>
          </a:prstGeom>
          <a:noFill/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691627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08254-7B1A-4660-A9A3-48C9163FD837}" type="slidenum">
              <a:rPr lang="fr-FR" smtClean="0"/>
              <a:pPr/>
              <a:t>2</a:t>
            </a:fld>
            <a:endParaRPr lang="fr-FR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3667716"/>
              </p:ext>
            </p:extLst>
          </p:nvPr>
        </p:nvGraphicFramePr>
        <p:xfrm>
          <a:off x="971601" y="574016"/>
          <a:ext cx="7272808" cy="5735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63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81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4612">
                <a:tc>
                  <a:txBody>
                    <a:bodyPr/>
                    <a:lstStyle/>
                    <a:p>
                      <a:pPr algn="ctr" fontAlgn="b"/>
                      <a:r>
                        <a:rPr lang="en-US" sz="3600" dirty="0" err="1">
                          <a:solidFill>
                            <a:schemeClr val="tx1"/>
                          </a:solidFill>
                        </a:rPr>
                        <a:t>Paramètre</a:t>
                      </a:r>
                      <a:endParaRPr lang="en-CA" sz="3600" b="0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24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 </a:t>
                      </a:r>
                      <a:r>
                        <a:rPr lang="en-CA" sz="24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Valeur</a:t>
                      </a:r>
                      <a:endParaRPr lang="en-CA" sz="2400" b="0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4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 </a:t>
                      </a:r>
                      <a:r>
                        <a:rPr lang="en-CA" sz="24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Probabilité</a:t>
                      </a:r>
                      <a:endParaRPr lang="en-CA" sz="2400" b="0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642">
                <a:tc rowSpan="3"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b="0" i="0" u="none" strike="noStrike" dirty="0">
                          <a:effectLst/>
                          <a:latin typeface="Arial"/>
                        </a:rPr>
                        <a:t> </a:t>
                      </a:r>
                      <a:r>
                        <a:rPr lang="en-CA" sz="1800" b="0" i="0" u="none" strike="noStrike" dirty="0" err="1">
                          <a:effectLst/>
                          <a:latin typeface="Arial"/>
                        </a:rPr>
                        <a:t>Efficacité</a:t>
                      </a:r>
                      <a:r>
                        <a:rPr lang="en-CA" sz="1800" b="0" i="0" u="none" strike="noStrike" dirty="0">
                          <a:effectLst/>
                          <a:latin typeface="Arial"/>
                        </a:rPr>
                        <a:t> de la </a:t>
                      </a:r>
                      <a:r>
                        <a:rPr lang="en-CA" sz="1800" b="0" i="0" u="none" strike="noStrike" dirty="0" err="1">
                          <a:effectLst/>
                          <a:latin typeface="Arial"/>
                        </a:rPr>
                        <a:t>centrale</a:t>
                      </a:r>
                      <a:endParaRPr lang="en-CA" sz="1800" b="0" i="0" u="none" strike="noStrike" dirty="0">
                        <a:effectLst/>
                        <a:latin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800" b="0" i="0" u="none" strike="noStrike" dirty="0">
                          <a:effectLst/>
                          <a:latin typeface="Arial"/>
                        </a:rPr>
                        <a:t>92%</a:t>
                      </a:r>
                    </a:p>
                  </a:txBody>
                  <a:tcPr marL="0" marR="0" marT="0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fr-CA" sz="1800" b="0" i="0" u="none" strike="noStrike" dirty="0">
                          <a:effectLst/>
                          <a:latin typeface="Arial"/>
                        </a:rPr>
                        <a:t>55%</a:t>
                      </a:r>
                      <a:endParaRPr lang="en-CA" sz="1800" b="0" i="0" u="none" strike="noStrike" dirty="0">
                        <a:effectLst/>
                        <a:latin typeface="Arial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642">
                <a:tc vMerge="1">
                  <a:txBody>
                    <a:bodyPr/>
                    <a:lstStyle/>
                    <a:p>
                      <a:pPr algn="l" fontAlgn="b"/>
                      <a:endParaRPr lang="en-CA" sz="2000" b="0" i="0" u="none" strike="noStrike" dirty="0">
                        <a:effectLst/>
                        <a:latin typeface="Arial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800" b="0" i="0" u="none" strike="noStrike" dirty="0">
                          <a:effectLst/>
                          <a:latin typeface="Arial"/>
                        </a:rPr>
                        <a:t>80%</a:t>
                      </a:r>
                    </a:p>
                  </a:txBody>
                  <a:tcPr marL="0" marR="0" marT="0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fr-CA" sz="1800" b="0" i="0" u="none" strike="noStrike" dirty="0">
                          <a:effectLst/>
                          <a:latin typeface="Arial"/>
                        </a:rPr>
                        <a:t>45%</a:t>
                      </a:r>
                      <a:endParaRPr lang="en-CA" sz="1800" b="0" i="0" u="none" strike="noStrike" dirty="0">
                        <a:effectLst/>
                        <a:latin typeface="Arial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68">
                <a:tc vMerge="1"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sz="1800" b="0" i="0" u="none" strike="noStrike" dirty="0">
                        <a:effectLst/>
                        <a:latin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CA" sz="1800" b="0" i="0" u="none" strike="noStrike" dirty="0">
                        <a:effectLst/>
                        <a:latin typeface="Arial"/>
                      </a:endParaRPr>
                    </a:p>
                  </a:txBody>
                  <a:tcPr marL="0" marR="0" marT="0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endParaRPr lang="en-CA" sz="1800" b="0" i="0" u="none" strike="noStrike" dirty="0">
                        <a:effectLst/>
                        <a:latin typeface="Arial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642">
                <a:tc rowSpan="2">
                  <a:txBody>
                    <a:bodyPr/>
                    <a:lstStyle/>
                    <a:p>
                      <a:pPr marL="0" marR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 typeface="Symbol" pitchFamily="18" charset="2"/>
                        <a:buNone/>
                        <a:tabLst/>
                      </a:pPr>
                      <a:r>
                        <a:rPr lang="fr-CA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Résultat du projet de loi</a:t>
                      </a:r>
                      <a:endParaRPr lang="en-CA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800" b="0" i="0" u="none" strike="noStrike" dirty="0">
                          <a:effectLst/>
                          <a:latin typeface="Arial"/>
                        </a:rPr>
                        <a:t>Passe</a:t>
                      </a:r>
                      <a:endParaRPr lang="en-CA" sz="1800" b="0" i="0" u="none" strike="noStrike" dirty="0">
                        <a:effectLst/>
                        <a:latin typeface="Arial"/>
                      </a:endParaRPr>
                    </a:p>
                  </a:txBody>
                  <a:tcPr marL="0" marR="0" marT="0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fr-CA" sz="1800" b="0" i="0" u="none" strike="noStrike" dirty="0">
                          <a:effectLst/>
                          <a:latin typeface="Arial"/>
                        </a:rPr>
                        <a:t>20%</a:t>
                      </a:r>
                      <a:endParaRPr lang="en-CA" sz="1800" b="0" i="0" u="none" strike="noStrike" dirty="0">
                        <a:effectLst/>
                        <a:latin typeface="Arial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642">
                <a:tc vMerge="1">
                  <a:txBody>
                    <a:bodyPr/>
                    <a:lstStyle/>
                    <a:p>
                      <a:pPr algn="ctr" fontAlgn="b"/>
                      <a:endParaRPr lang="en-CA" sz="1800" b="0" i="0" u="none" strike="noStrike" dirty="0">
                        <a:effectLst/>
                        <a:latin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800" b="0" i="0" u="none" strike="noStrike" dirty="0">
                          <a:effectLst/>
                          <a:latin typeface="Arial"/>
                        </a:rPr>
                        <a:t>Passe</a:t>
                      </a:r>
                      <a:r>
                        <a:rPr lang="fr-CA" sz="1800" b="0" i="0" u="none" strike="noStrike" baseline="0" dirty="0">
                          <a:effectLst/>
                          <a:latin typeface="Arial"/>
                        </a:rPr>
                        <a:t> pas</a:t>
                      </a:r>
                      <a:endParaRPr lang="en-CA" sz="1800" b="0" i="0" u="none" strike="noStrike" dirty="0">
                        <a:effectLst/>
                        <a:latin typeface="Arial"/>
                      </a:endParaRPr>
                    </a:p>
                  </a:txBody>
                  <a:tcPr marL="0" marR="0" marT="0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fr-CA" sz="1800" b="0" i="0" u="none" strike="noStrike" dirty="0">
                          <a:effectLst/>
                          <a:latin typeface="Arial"/>
                        </a:rPr>
                        <a:t>80%</a:t>
                      </a:r>
                      <a:endParaRPr lang="en-CA" sz="1800" b="0" i="0" u="none" strike="noStrike" dirty="0">
                        <a:effectLst/>
                        <a:latin typeface="Arial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642">
                <a:tc rowSpan="2"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b="0" i="0" u="none" strike="noStrike" dirty="0" err="1">
                          <a:effectLst/>
                          <a:latin typeface="Arial"/>
                        </a:rPr>
                        <a:t>Coûts</a:t>
                      </a:r>
                      <a:r>
                        <a:rPr lang="en-CA" sz="1800" b="0" i="0" u="none" strike="noStrike" dirty="0">
                          <a:effectLst/>
                          <a:latin typeface="Arial"/>
                        </a:rPr>
                        <a:t> variables</a:t>
                      </a:r>
                    </a:p>
                    <a:p>
                      <a:pPr algn="ctr" fontAlgn="b"/>
                      <a:r>
                        <a:rPr lang="en-CA" sz="1800" b="0" i="0" u="none" strike="noStrike" dirty="0">
                          <a:effectLst/>
                          <a:latin typeface="Arial"/>
                        </a:rPr>
                        <a:t>(% </a:t>
                      </a:r>
                      <a:r>
                        <a:rPr lang="en-CA" sz="1800" b="0" i="0" u="none" strike="noStrike" dirty="0" err="1">
                          <a:effectLst/>
                          <a:latin typeface="Arial"/>
                        </a:rPr>
                        <a:t>d’augmentation</a:t>
                      </a:r>
                      <a:r>
                        <a:rPr lang="en-CA" sz="1800" b="0" i="0" u="none" strike="noStrike" dirty="0">
                          <a:effectLst/>
                          <a:latin typeface="Arial"/>
                        </a:rPr>
                        <a:t>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800" b="0" i="0" u="none" strike="noStrike" dirty="0">
                          <a:effectLst/>
                          <a:latin typeface="Arial"/>
                        </a:rPr>
                        <a:t>0.07</a:t>
                      </a:r>
                    </a:p>
                  </a:txBody>
                  <a:tcPr marL="0" marR="0" marT="0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fr-CA" sz="1800" b="0" i="0" u="none" strike="noStrike" dirty="0">
                          <a:effectLst/>
                          <a:latin typeface="Arial"/>
                        </a:rPr>
                        <a:t>50%</a:t>
                      </a:r>
                      <a:endParaRPr lang="en-CA" sz="1800" b="0" i="0" u="none" strike="noStrike" dirty="0">
                        <a:effectLst/>
                        <a:latin typeface="Arial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3642">
                <a:tc vMerge="1">
                  <a:txBody>
                    <a:bodyPr/>
                    <a:lstStyle/>
                    <a:p>
                      <a:pPr algn="l" fontAlgn="b"/>
                      <a:endParaRPr lang="en-CA" sz="2000" b="0" i="0" u="none" strike="noStrike" dirty="0">
                        <a:effectLst/>
                        <a:latin typeface="Arial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800" b="0" i="0" u="none" strike="noStrike" dirty="0">
                          <a:effectLst/>
                          <a:latin typeface="Arial"/>
                        </a:rPr>
                        <a:t>0.04</a:t>
                      </a:r>
                    </a:p>
                  </a:txBody>
                  <a:tcPr marL="0" marR="0" marT="0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fr-CA" sz="1800" b="0" i="0" u="none" strike="noStrike" dirty="0">
                          <a:effectLst/>
                          <a:latin typeface="Arial"/>
                        </a:rPr>
                        <a:t>50%</a:t>
                      </a:r>
                      <a:endParaRPr lang="en-CA" sz="1800" b="0" i="0" u="none" strike="noStrike" dirty="0">
                        <a:effectLst/>
                        <a:latin typeface="Arial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3642">
                <a:tc rowSpan="3"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b="0" i="0" u="none" strike="noStrike" dirty="0" err="1">
                          <a:effectLst/>
                          <a:latin typeface="Arial"/>
                        </a:rPr>
                        <a:t>Coûts</a:t>
                      </a:r>
                      <a:r>
                        <a:rPr lang="en-CA" sz="1800" b="0" i="0" u="none" strike="noStrike" dirty="0">
                          <a:effectLst/>
                          <a:latin typeface="Arial"/>
                        </a:rPr>
                        <a:t> de</a:t>
                      </a:r>
                      <a:r>
                        <a:rPr lang="en-CA" sz="1800" b="0" i="0" u="none" strike="noStrike" baseline="0" dirty="0">
                          <a:effectLst/>
                          <a:latin typeface="Arial"/>
                        </a:rPr>
                        <a:t> c</a:t>
                      </a:r>
                      <a:r>
                        <a:rPr lang="en-CA" sz="1800" b="0" i="0" u="none" strike="noStrike" dirty="0">
                          <a:effectLst/>
                          <a:latin typeface="Arial"/>
                        </a:rPr>
                        <a:t>onstruction</a:t>
                      </a:r>
                    </a:p>
                    <a:p>
                      <a:pPr algn="ctr" fontAlgn="b"/>
                      <a:r>
                        <a:rPr lang="en-CA" sz="1800" b="0" i="0" u="none" strike="noStrike" dirty="0">
                          <a:effectLst/>
                          <a:latin typeface="Arial"/>
                        </a:rPr>
                        <a:t>($/W)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800" b="0" i="0" u="none" strike="noStrike">
                          <a:effectLst/>
                          <a:latin typeface="Arial"/>
                        </a:rPr>
                        <a:t>1.7</a:t>
                      </a:r>
                    </a:p>
                  </a:txBody>
                  <a:tcPr marL="0" marR="0" marT="0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fr-CA" sz="1800" b="0" i="0" u="none" strike="noStrike" dirty="0">
                          <a:effectLst/>
                          <a:latin typeface="Arial"/>
                        </a:rPr>
                        <a:t>25%</a:t>
                      </a:r>
                      <a:endParaRPr lang="en-CA" sz="1800" b="0" i="0" u="none" strike="noStrike" dirty="0">
                        <a:effectLst/>
                        <a:latin typeface="Arial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3642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800" b="0" i="0" u="none" strike="noStrike" dirty="0">
                          <a:effectLst/>
                          <a:latin typeface="Arial"/>
                        </a:rPr>
                        <a:t>1.5</a:t>
                      </a:r>
                      <a:endParaRPr lang="en-CA" sz="1800" b="0" i="0" u="none" strike="noStrike" dirty="0">
                        <a:effectLst/>
                        <a:latin typeface="Arial"/>
                      </a:endParaRPr>
                    </a:p>
                  </a:txBody>
                  <a:tcPr marL="0" marR="0" marT="0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fr-CA" sz="1800" b="0" i="0" u="none" strike="noStrike" dirty="0">
                          <a:effectLst/>
                          <a:latin typeface="Arial"/>
                        </a:rPr>
                        <a:t>50%</a:t>
                      </a:r>
                      <a:endParaRPr lang="en-CA" sz="1800" b="0" i="0" u="none" strike="noStrike" dirty="0">
                        <a:effectLst/>
                        <a:latin typeface="Arial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3642">
                <a:tc vMerge="1">
                  <a:txBody>
                    <a:bodyPr/>
                    <a:lstStyle/>
                    <a:p>
                      <a:pPr algn="l" fontAlgn="b"/>
                      <a:endParaRPr lang="en-CA" sz="2000" b="0" i="0" u="none" strike="noStrike" dirty="0">
                        <a:effectLst/>
                        <a:latin typeface="Arial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800" b="0" i="0" u="none" strike="noStrike" dirty="0">
                          <a:effectLst/>
                          <a:latin typeface="Arial"/>
                        </a:rPr>
                        <a:t>1.3</a:t>
                      </a:r>
                    </a:p>
                  </a:txBody>
                  <a:tcPr marL="0" marR="0" marT="0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fr-CA" sz="1800" b="0" i="0" u="none" strike="noStrike" dirty="0">
                          <a:effectLst/>
                          <a:latin typeface="Arial"/>
                        </a:rPr>
                        <a:t>25%</a:t>
                      </a:r>
                      <a:endParaRPr lang="en-CA" sz="1800" b="0" i="0" u="none" strike="noStrike" dirty="0">
                        <a:effectLst/>
                        <a:latin typeface="Arial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3642">
                <a:tc rowSpan="4"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b="0" i="0" u="none" strike="noStrike" dirty="0">
                          <a:effectLst/>
                          <a:latin typeface="Arial"/>
                        </a:rPr>
                        <a:t>Prix de </a:t>
                      </a:r>
                      <a:r>
                        <a:rPr lang="en-CA" sz="1800" b="0" i="0" u="none" strike="noStrike" dirty="0" err="1">
                          <a:effectLst/>
                          <a:latin typeface="Arial"/>
                        </a:rPr>
                        <a:t>l’électricité</a:t>
                      </a:r>
                      <a:endParaRPr lang="en-CA" sz="1800" b="0" i="0" u="none" strike="noStrike" dirty="0">
                        <a:effectLst/>
                        <a:latin typeface="Arial"/>
                      </a:endParaRPr>
                    </a:p>
                    <a:p>
                      <a:pPr algn="ctr" fontAlgn="b"/>
                      <a:r>
                        <a:rPr lang="en-CA" sz="1800" b="0" i="0" u="none" strike="noStrike" dirty="0">
                          <a:effectLst/>
                          <a:latin typeface="Arial"/>
                        </a:rPr>
                        <a:t>(</a:t>
                      </a:r>
                      <a:r>
                        <a:rPr lang="en-CA" sz="1800" b="0" i="0" u="none" strike="noStrike" dirty="0" err="1">
                          <a:effectLst/>
                          <a:latin typeface="Arial"/>
                        </a:rPr>
                        <a:t>scénario</a:t>
                      </a:r>
                      <a:r>
                        <a:rPr lang="en-CA" sz="1800" b="0" i="0" u="none" strike="noStrike" dirty="0">
                          <a:effectLst/>
                          <a:latin typeface="Arial"/>
                        </a:rPr>
                        <a:t> #) 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CA" sz="1800" b="0" i="0" u="none" strike="noStrike" dirty="0">
                        <a:effectLst/>
                        <a:latin typeface="Arial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800" b="0" i="0" u="none" strike="noStrike" dirty="0">
                          <a:effectLst/>
                          <a:latin typeface="Arial"/>
                        </a:rPr>
                        <a:t>Si loi passe</a:t>
                      </a:r>
                      <a:endParaRPr lang="en-CA" sz="1800" b="0" i="0" u="none" strike="noStrike" dirty="0">
                        <a:effectLst/>
                        <a:latin typeface="Arial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800" b="0" i="0" u="none" strike="noStrike" dirty="0">
                          <a:effectLst/>
                          <a:latin typeface="Arial"/>
                        </a:rPr>
                        <a:t>Si</a:t>
                      </a:r>
                      <a:r>
                        <a:rPr lang="fr-CA" sz="1800" b="0" i="0" u="none" strike="noStrike" baseline="0" dirty="0">
                          <a:effectLst/>
                          <a:latin typeface="Arial"/>
                        </a:rPr>
                        <a:t> loi passe pas</a:t>
                      </a:r>
                      <a:endParaRPr lang="en-CA" sz="1800" b="0" i="0" u="none" strike="noStrike" dirty="0">
                        <a:effectLst/>
                        <a:latin typeface="Arial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3642">
                <a:tc vMerge="1"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sz="1800" b="0" i="0" u="none" strike="noStrike" dirty="0">
                        <a:effectLst/>
                        <a:latin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800" b="0" i="0" u="none" strike="noStrike" dirty="0">
                          <a:effectLst/>
                          <a:latin typeface="Arial"/>
                        </a:rPr>
                        <a:t>1</a:t>
                      </a:r>
                      <a:endParaRPr lang="en-CA" sz="1800" b="0" i="0" u="none" strike="noStrike" dirty="0">
                        <a:effectLst/>
                        <a:latin typeface="Arial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800" b="0" i="0" u="none" strike="noStrike" dirty="0">
                          <a:effectLst/>
                          <a:latin typeface="Arial"/>
                        </a:rPr>
                        <a:t>0%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800" b="0" i="0" u="none" strike="noStrike" dirty="0">
                          <a:effectLst/>
                          <a:latin typeface="Arial"/>
                        </a:rPr>
                        <a:t>37.5%</a:t>
                      </a:r>
                      <a:endParaRPr lang="en-CA" sz="1800" b="0" i="0" u="none" strike="noStrike" dirty="0">
                        <a:effectLst/>
                        <a:latin typeface="Arial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3642">
                <a:tc vMerge="1">
                  <a:txBody>
                    <a:bodyPr/>
                    <a:lstStyle/>
                    <a:p>
                      <a:pPr algn="l" fontAlgn="b"/>
                      <a:endParaRPr lang="en-CA" sz="2000" b="0" i="0" u="none" strike="noStrike" dirty="0">
                        <a:effectLst/>
                        <a:latin typeface="Arial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800" b="0" i="0" u="none" strike="noStrike" dirty="0">
                          <a:effectLst/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800" b="0" i="0" u="none" strike="noStrike" dirty="0">
                          <a:effectLst/>
                          <a:latin typeface="Arial"/>
                        </a:rPr>
                        <a:t>0%</a:t>
                      </a:r>
                      <a:endParaRPr lang="en-CA" sz="1800" b="0" i="0" u="none" strike="noStrike" dirty="0">
                        <a:effectLst/>
                        <a:latin typeface="Arial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800" b="0" i="0" u="none" strike="noStrike" dirty="0">
                          <a:effectLst/>
                          <a:latin typeface="Arial"/>
                        </a:rPr>
                        <a:t>62.5%</a:t>
                      </a:r>
                      <a:endParaRPr lang="en-CA" sz="1800" b="0" i="0" u="none" strike="noStrike" dirty="0">
                        <a:effectLst/>
                        <a:latin typeface="Arial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63642">
                <a:tc vMerge="1">
                  <a:txBody>
                    <a:bodyPr/>
                    <a:lstStyle/>
                    <a:p>
                      <a:pPr algn="l" fontAlgn="b"/>
                      <a:endParaRPr lang="en-CA" sz="2000" b="0" i="0" u="none" strike="noStrike" dirty="0">
                        <a:effectLst/>
                        <a:latin typeface="Arial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800" b="0" i="0" u="none" strike="noStrike" dirty="0">
                          <a:effectLst/>
                          <a:latin typeface="Arial"/>
                        </a:rPr>
                        <a:t>3</a:t>
                      </a:r>
                      <a:endParaRPr lang="en-CA" sz="1800" b="0" i="0" u="none" strike="noStrike" dirty="0">
                        <a:effectLst/>
                        <a:latin typeface="Arial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800" b="0" i="0" u="none" strike="noStrike" dirty="0">
                          <a:effectLst/>
                          <a:latin typeface="Arial"/>
                        </a:rPr>
                        <a:t>100%</a:t>
                      </a:r>
                      <a:endParaRPr lang="en-CA" sz="1800" b="0" i="0" u="none" strike="noStrike" dirty="0">
                        <a:effectLst/>
                        <a:latin typeface="Arial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800" b="0" i="0" u="none" strike="noStrike" dirty="0">
                          <a:effectLst/>
                          <a:latin typeface="Arial"/>
                        </a:rPr>
                        <a:t>0%</a:t>
                      </a:r>
                      <a:endParaRPr lang="en-CA" sz="1800" b="0" i="0" u="none" strike="noStrike" dirty="0">
                        <a:effectLst/>
                        <a:latin typeface="Arial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11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fr-FR" dirty="0"/>
              <a:t>Automne 2014</a:t>
            </a:r>
          </a:p>
        </p:txBody>
      </p:sp>
      <p:sp>
        <p:nvSpPr>
          <p:cNvPr id="12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lang="fr-FR" dirty="0"/>
              <a:t>Analyse de décision</a:t>
            </a:r>
          </a:p>
        </p:txBody>
      </p:sp>
    </p:spTree>
    <p:extLst>
      <p:ext uri="{BB962C8B-B14F-4D97-AF65-F5344CB8AC3E}">
        <p14:creationId xmlns:p14="http://schemas.microsoft.com/office/powerpoint/2010/main" val="1257564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Stratégie</a:t>
            </a:r>
            <a:r>
              <a:rPr lang="en-US" dirty="0"/>
              <a:t> </a:t>
            </a:r>
            <a:r>
              <a:rPr lang="en-US" dirty="0" err="1"/>
              <a:t>optimale</a:t>
            </a:r>
            <a:endParaRPr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3FC33-E6A6-40A7-B1B1-997F84FC4E53}" type="slidenum">
              <a:rPr lang="fr-FR" smtClean="0"/>
              <a:pPr/>
              <a:t>3</a:t>
            </a:fld>
            <a:endParaRPr lang="fr-FR"/>
          </a:p>
        </p:txBody>
      </p:sp>
      <p:sp>
        <p:nvSpPr>
          <p:cNvPr id="7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fr-FR" dirty="0"/>
              <a:t>Automne 2014</a:t>
            </a:r>
          </a:p>
        </p:txBody>
      </p:sp>
      <p:sp>
        <p:nvSpPr>
          <p:cNvPr id="8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lang="fr-FR" dirty="0"/>
              <a:t>Analyse de décision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3E5AF5-036D-7F4B-A36A-A45D2805A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28800"/>
            <a:ext cx="9144000" cy="419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24159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151</Words>
  <Application>Microsoft Macintosh PowerPoint</Application>
  <PresentationFormat>On-screen Show (4:3)</PresentationFormat>
  <Paragraphs>63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Symbol</vt:lpstr>
      <vt:lpstr>Tahoma</vt:lpstr>
      <vt:lpstr>Thème Office</vt:lpstr>
      <vt:lpstr>Utilisation sérieuse du logiciel</vt:lpstr>
      <vt:lpstr>PowerPoint Presentation</vt:lpstr>
      <vt:lpstr>Stratégie optimale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Utilisation sérieuse du logiciel</dc:title>
  <dc:creator>erick delage</dc:creator>
  <cp:lastModifiedBy>Erick Delage</cp:lastModifiedBy>
  <cp:revision>3</cp:revision>
  <dcterms:created xsi:type="dcterms:W3CDTF">2014-10-08T15:11:18Z</dcterms:created>
  <dcterms:modified xsi:type="dcterms:W3CDTF">2022-02-11T15:17:24Z</dcterms:modified>
</cp:coreProperties>
</file>