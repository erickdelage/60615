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3" r:id="rId3"/>
    <p:sldId id="260" r:id="rId4"/>
    <p:sldId id="257" r:id="rId5"/>
    <p:sldId id="262" r:id="rId6"/>
    <p:sldId id="258" r:id="rId7"/>
  </p:sldIdLst>
  <p:sldSz cx="9144000" cy="6858000" type="screen4x3"/>
  <p:notesSz cx="6997700" cy="92837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FF505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12"/>
    <p:restoredTop sz="94776"/>
  </p:normalViewPr>
  <p:slideViewPr>
    <p:cSldViewPr>
      <p:cViewPr>
        <p:scale>
          <a:sx n="145" d="100"/>
          <a:sy n="145" d="100"/>
        </p:scale>
        <p:origin x="392" y="14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63744" y="0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/>
            </a:lvl1pPr>
          </a:lstStyle>
          <a:p>
            <a:fld id="{5602E388-F933-4E72-A37F-F21843429C01}" type="datetimeFigureOut">
              <a:rPr lang="fr-CA" smtClean="0"/>
              <a:t>2026-09-01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63744" y="8817904"/>
            <a:ext cx="3032337" cy="464185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/>
            </a:lvl1pPr>
          </a:lstStyle>
          <a:p>
            <a:fld id="{0050A641-EA46-45B5-A1BA-EAF1F22825C1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57770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63988" y="0"/>
            <a:ext cx="303212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3143B-17E6-ED44-A562-346253D1D3BA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09700" y="1160463"/>
            <a:ext cx="4178300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0088" y="4467225"/>
            <a:ext cx="5597525" cy="3656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32125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63988" y="8818563"/>
            <a:ext cx="3032125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51E1F-3AB7-774C-BC36-941C05C820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276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docs.google.com</a:t>
            </a:r>
            <a:r>
              <a:rPr lang="fr-FR" dirty="0"/>
              <a:t>/</a:t>
            </a:r>
            <a:r>
              <a:rPr lang="fr-FR" dirty="0" err="1"/>
              <a:t>forms</a:t>
            </a:r>
            <a:r>
              <a:rPr lang="fr-FR" dirty="0"/>
              <a:t>/d/1aNnLPmR1EnRcfJ0YTDgGgZbaBFgbgc81QKSdEzYOKLY/</a:t>
            </a:r>
            <a:r>
              <a:rPr lang="fr-FR"/>
              <a:t>edit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51E1F-3AB7-774C-BC36-941C05C820E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832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B51E1F-3AB7-774C-BC36-941C05C820E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52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51E1F-3AB7-774C-BC36-941C05C820E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477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51E1F-3AB7-774C-BC36-941C05C820E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23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1D5CD-766F-403F-B6DB-8C5247377BF8}" type="datetimeFigureOut">
              <a:rPr lang="fr-CA" smtClean="0"/>
              <a:pPr/>
              <a:t>2026-09-01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846AC-C7D6-41F3-96E6-A848C5EA456B}" type="slidenum">
              <a:rPr lang="fr-CA" smtClean="0"/>
              <a:pPr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Consensus sur les probabilités impliquées par la terminologie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EA3187-DABF-FF9E-F9BD-9BAF462E5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44824"/>
            <a:ext cx="7772400" cy="44580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</a:t>
            </a:r>
            <a:r>
              <a:rPr lang="fr-CA" dirty="0" err="1"/>
              <a:t>éponses</a:t>
            </a:r>
            <a:r>
              <a:rPr lang="fr-CA" dirty="0"/>
              <a:t> de deux experts aux questions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52602"/>
              </p:ext>
            </p:extLst>
          </p:nvPr>
        </p:nvGraphicFramePr>
        <p:xfrm>
          <a:off x="323528" y="1700808"/>
          <a:ext cx="8568961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1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Vraie valeur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dirty="0"/>
                        <a:t>Expert</a:t>
                      </a:r>
                      <a:r>
                        <a:rPr lang="fr-CA" baseline="0" dirty="0"/>
                        <a:t> #1</a:t>
                      </a:r>
                    </a:p>
                    <a:p>
                      <a:pPr algn="ctr"/>
                      <a:r>
                        <a:rPr lang="fr-CA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  Intervalle     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Succ</a:t>
                      </a:r>
                      <a:r>
                        <a:rPr lang="fr-CA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ès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dirty="0"/>
                        <a:t>Expert</a:t>
                      </a:r>
                      <a:r>
                        <a:rPr lang="fr-CA" baseline="0" dirty="0"/>
                        <a:t> #2</a:t>
                      </a:r>
                    </a:p>
                    <a:p>
                      <a:pPr algn="ctr"/>
                      <a:r>
                        <a:rPr lang="fr-CA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  Intervalle      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Succ</a:t>
                      </a:r>
                      <a:r>
                        <a:rPr lang="fr-CA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ès</a:t>
                      </a:r>
                      <a:endParaRPr lang="fr-CA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Profondeur océan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 km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 , 15 ]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[ 5 , 25 ]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Pays dans l’OPEC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[ 15 , 20 ]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 , 25 ]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Naissance Mozart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[ 1 700 , 1 800 ]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[ 1 600 , 1 900 ]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Gestation</a:t>
                      </a:r>
                      <a:r>
                        <a:rPr lang="fr-CA" sz="1600" baseline="0" dirty="0"/>
                        <a:t> d’éléphant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 mois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 , 15 ]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[ 5 , 20 ]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Population Grèce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fr-CA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millions</a:t>
                      </a:r>
                      <a:endParaRPr lang="fr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</a:t>
                      </a:r>
                      <a:r>
                        <a:rPr lang="en-US" sz="1600" baseline="0" dirty="0"/>
                        <a:t> , 12 ]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err="1"/>
                        <a:t>Oui</a:t>
                      </a:r>
                      <a:endParaRPr lang="en-US" sz="16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[ 8</a:t>
                      </a:r>
                      <a:r>
                        <a:rPr lang="en-US" sz="1600" baseline="0" dirty="0"/>
                        <a:t> , 14 ]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err="1"/>
                        <a:t>Oui</a:t>
                      </a:r>
                      <a:endParaRPr lang="en-US" sz="16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Age</a:t>
                      </a:r>
                      <a:r>
                        <a:rPr lang="fr-CA" sz="1600" baseline="0" dirty="0"/>
                        <a:t> Martin L. King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 ans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[ 30 , 55 ]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[ 5 , 80 ]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Longueur Nile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6 650 km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[ 2 000 , 4 000 ]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[ 1000 , 6 000 ]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Diamètre</a:t>
                      </a:r>
                      <a:r>
                        <a:rPr lang="fr-CA" sz="1600" baseline="0" dirty="0"/>
                        <a:t> lune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3 476 km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[ 10 000 , 100 000</a:t>
                      </a:r>
                      <a:r>
                        <a:rPr lang="en-US" sz="1600" baseline="0" dirty="0"/>
                        <a:t>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[ 1 000 , 200 000</a:t>
                      </a:r>
                      <a:r>
                        <a:rPr lang="en-US" sz="1600" baseline="0" dirty="0"/>
                        <a:t>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 err="1"/>
                        <a:t>Dist</a:t>
                      </a:r>
                      <a:r>
                        <a:rPr lang="fr-CA" sz="1600" dirty="0"/>
                        <a:t>.</a:t>
                      </a:r>
                      <a:r>
                        <a:rPr lang="fr-CA" sz="1600" baseline="0" dirty="0"/>
                        <a:t> </a:t>
                      </a:r>
                      <a:r>
                        <a:rPr lang="fr-CA" sz="1600" dirty="0"/>
                        <a:t>Tokyo – Londres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9 580 km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[ 5 000 , 15 000 ]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[ 1 000 , 25 000 ]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Poids</a:t>
                      </a:r>
                      <a:r>
                        <a:rPr lang="fr-CA" sz="1600" baseline="0" dirty="0"/>
                        <a:t> d’un Boeing 747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180 885 kg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[ 200 000 , 600</a:t>
                      </a:r>
                      <a:r>
                        <a:rPr lang="en-US" sz="1600" baseline="0" dirty="0"/>
                        <a:t> 000 ]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[ 10 000 , 1 000</a:t>
                      </a:r>
                      <a:r>
                        <a:rPr lang="en-US" sz="1600" baseline="0" dirty="0"/>
                        <a:t> 000 ]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6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6B428A-D33A-8B5F-F99B-50304305E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26212"/>
            <a:ext cx="8503048" cy="43602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Calibration vs. Information des</a:t>
            </a:r>
            <a:br>
              <a:rPr lang="fr-CA" dirty="0"/>
            </a:br>
            <a:r>
              <a:rPr lang="fr-CA" dirty="0"/>
              <a:t>10+169 participants</a:t>
            </a:r>
          </a:p>
        </p:txBody>
      </p:sp>
    </p:spTree>
    <p:extLst>
      <p:ext uri="{BB962C8B-B14F-4D97-AF65-F5344CB8AC3E}">
        <p14:creationId xmlns:p14="http://schemas.microsoft.com/office/powerpoint/2010/main" val="410463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410A14-CD15-0A77-C358-8518F91E6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26212"/>
            <a:ext cx="8503048" cy="43602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Calibration vs. Information de</a:t>
            </a:r>
            <a:br>
              <a:rPr lang="fr-CA" dirty="0"/>
            </a:br>
            <a:r>
              <a:rPr lang="fr-CA" dirty="0"/>
              <a:t>10+169 participants</a:t>
            </a:r>
          </a:p>
        </p:txBody>
      </p:sp>
      <p:cxnSp>
        <p:nvCxnSpPr>
          <p:cNvPr id="6" name="Connecteur droit avec flèche 4">
            <a:extLst>
              <a:ext uri="{FF2B5EF4-FFF2-40B4-BE49-F238E27FC236}">
                <a16:creationId xmlns:a16="http://schemas.microsoft.com/office/drawing/2014/main" id="{C20D44E1-A29E-C940-A2D9-B20EB69ECD66}"/>
              </a:ext>
            </a:extLst>
          </p:cNvPr>
          <p:cNvCxnSpPr/>
          <p:nvPr/>
        </p:nvCxnSpPr>
        <p:spPr>
          <a:xfrm>
            <a:off x="4572000" y="4214588"/>
            <a:ext cx="1152000" cy="828000"/>
          </a:xfrm>
          <a:prstGeom prst="straightConnector1">
            <a:avLst/>
          </a:prstGeom>
          <a:ln w="130175">
            <a:solidFill>
              <a:schemeClr val="accent3">
                <a:alpha val="5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rme libre 10">
            <a:extLst>
              <a:ext uri="{FF2B5EF4-FFF2-40B4-BE49-F238E27FC236}">
                <a16:creationId xmlns:a16="http://schemas.microsoft.com/office/drawing/2014/main" id="{5349BC3A-B093-B04E-8CB7-0A8AE0D4A529}"/>
              </a:ext>
            </a:extLst>
          </p:cNvPr>
          <p:cNvSpPr/>
          <p:nvPr/>
        </p:nvSpPr>
        <p:spPr>
          <a:xfrm>
            <a:off x="2352479" y="3613197"/>
            <a:ext cx="6195669" cy="1319562"/>
          </a:xfrm>
          <a:custGeom>
            <a:avLst/>
            <a:gdLst>
              <a:gd name="connsiteX0" fmla="*/ 0 w 4735285"/>
              <a:gd name="connsiteY0" fmla="*/ 1763486 h 1763486"/>
              <a:gd name="connsiteX1" fmla="*/ 3380014 w 4735285"/>
              <a:gd name="connsiteY1" fmla="*/ 1567543 h 1763486"/>
              <a:gd name="connsiteX2" fmla="*/ 4065814 w 4735285"/>
              <a:gd name="connsiteY2" fmla="*/ 865415 h 1763486"/>
              <a:gd name="connsiteX3" fmla="*/ 4735285 w 4735285"/>
              <a:gd name="connsiteY3" fmla="*/ 0 h 1763486"/>
              <a:gd name="connsiteX4" fmla="*/ 4735285 w 4735285"/>
              <a:gd name="connsiteY4" fmla="*/ 0 h 1763486"/>
              <a:gd name="connsiteX0" fmla="*/ 0 w 5313354"/>
              <a:gd name="connsiteY0" fmla="*/ 1616341 h 1616341"/>
              <a:gd name="connsiteX1" fmla="*/ 3958083 w 5313354"/>
              <a:gd name="connsiteY1" fmla="*/ 1567543 h 1616341"/>
              <a:gd name="connsiteX2" fmla="*/ 4643883 w 5313354"/>
              <a:gd name="connsiteY2" fmla="*/ 865415 h 1616341"/>
              <a:gd name="connsiteX3" fmla="*/ 5313354 w 5313354"/>
              <a:gd name="connsiteY3" fmla="*/ 0 h 1616341"/>
              <a:gd name="connsiteX4" fmla="*/ 5313354 w 5313354"/>
              <a:gd name="connsiteY4" fmla="*/ 0 h 1616341"/>
              <a:gd name="connsiteX0" fmla="*/ 0 w 5618154"/>
              <a:gd name="connsiteY0" fmla="*/ 1616341 h 1616341"/>
              <a:gd name="connsiteX1" fmla="*/ 3958083 w 5618154"/>
              <a:gd name="connsiteY1" fmla="*/ 1567543 h 1616341"/>
              <a:gd name="connsiteX2" fmla="*/ 4643883 w 5618154"/>
              <a:gd name="connsiteY2" fmla="*/ 865415 h 1616341"/>
              <a:gd name="connsiteX3" fmla="*/ 5313354 w 5618154"/>
              <a:gd name="connsiteY3" fmla="*/ 0 h 1616341"/>
              <a:gd name="connsiteX4" fmla="*/ 5618154 w 5618154"/>
              <a:gd name="connsiteY4" fmla="*/ 609600 h 1616341"/>
              <a:gd name="connsiteX0" fmla="*/ 0 w 5618154"/>
              <a:gd name="connsiteY0" fmla="*/ 1006741 h 1006741"/>
              <a:gd name="connsiteX1" fmla="*/ 3958083 w 5618154"/>
              <a:gd name="connsiteY1" fmla="*/ 957943 h 1006741"/>
              <a:gd name="connsiteX2" fmla="*/ 4643883 w 5618154"/>
              <a:gd name="connsiteY2" fmla="*/ 255815 h 1006741"/>
              <a:gd name="connsiteX3" fmla="*/ 5618154 w 5618154"/>
              <a:gd name="connsiteY3" fmla="*/ 0 h 1006741"/>
              <a:gd name="connsiteX0" fmla="*/ 0 w 5618154"/>
              <a:gd name="connsiteY0" fmla="*/ 1006741 h 1006741"/>
              <a:gd name="connsiteX1" fmla="*/ 3958083 w 5618154"/>
              <a:gd name="connsiteY1" fmla="*/ 957943 h 1006741"/>
              <a:gd name="connsiteX2" fmla="*/ 4370614 w 5618154"/>
              <a:gd name="connsiteY2" fmla="*/ 581636 h 1006741"/>
              <a:gd name="connsiteX3" fmla="*/ 5618154 w 5618154"/>
              <a:gd name="connsiteY3" fmla="*/ 0 h 1006741"/>
              <a:gd name="connsiteX0" fmla="*/ 0 w 5618154"/>
              <a:gd name="connsiteY0" fmla="*/ 1006741 h 1105088"/>
              <a:gd name="connsiteX1" fmla="*/ 3464097 w 5618154"/>
              <a:gd name="connsiteY1" fmla="*/ 1105088 h 1105088"/>
              <a:gd name="connsiteX2" fmla="*/ 4370614 w 5618154"/>
              <a:gd name="connsiteY2" fmla="*/ 581636 h 1105088"/>
              <a:gd name="connsiteX3" fmla="*/ 5618154 w 5618154"/>
              <a:gd name="connsiteY3" fmla="*/ 0 h 1105088"/>
              <a:gd name="connsiteX0" fmla="*/ 0 w 5618154"/>
              <a:gd name="connsiteY0" fmla="*/ 1006741 h 1105088"/>
              <a:gd name="connsiteX1" fmla="*/ 3464097 w 5618154"/>
              <a:gd name="connsiteY1" fmla="*/ 1105088 h 1105088"/>
              <a:gd name="connsiteX2" fmla="*/ 4843579 w 5618154"/>
              <a:gd name="connsiteY2" fmla="*/ 739291 h 1105088"/>
              <a:gd name="connsiteX3" fmla="*/ 5618154 w 5618154"/>
              <a:gd name="connsiteY3" fmla="*/ 0 h 1105088"/>
              <a:gd name="connsiteX0" fmla="*/ 0 w 5618154"/>
              <a:gd name="connsiteY0" fmla="*/ 1006741 h 1105088"/>
              <a:gd name="connsiteX1" fmla="*/ 3464097 w 5618154"/>
              <a:gd name="connsiteY1" fmla="*/ 1105088 h 1105088"/>
              <a:gd name="connsiteX2" fmla="*/ 4381124 w 5618154"/>
              <a:gd name="connsiteY2" fmla="*/ 571126 h 1105088"/>
              <a:gd name="connsiteX3" fmla="*/ 5618154 w 5618154"/>
              <a:gd name="connsiteY3" fmla="*/ 0 h 1105088"/>
              <a:gd name="connsiteX0" fmla="*/ 0 w 5618154"/>
              <a:gd name="connsiteY0" fmla="*/ 1006741 h 1006741"/>
              <a:gd name="connsiteX1" fmla="*/ 3117255 w 5618154"/>
              <a:gd name="connsiteY1" fmla="*/ 600591 h 1006741"/>
              <a:gd name="connsiteX2" fmla="*/ 4381124 w 5618154"/>
              <a:gd name="connsiteY2" fmla="*/ 571126 h 1006741"/>
              <a:gd name="connsiteX3" fmla="*/ 5618154 w 5618154"/>
              <a:gd name="connsiteY3" fmla="*/ 0 h 1006741"/>
              <a:gd name="connsiteX0" fmla="*/ 0 w 5618154"/>
              <a:gd name="connsiteY0" fmla="*/ 1006741 h 1006741"/>
              <a:gd name="connsiteX1" fmla="*/ 3117255 w 5618154"/>
              <a:gd name="connsiteY1" fmla="*/ 600591 h 1006741"/>
              <a:gd name="connsiteX2" fmla="*/ 4381124 w 5618154"/>
              <a:gd name="connsiteY2" fmla="*/ 571126 h 1006741"/>
              <a:gd name="connsiteX3" fmla="*/ 5618154 w 5618154"/>
              <a:gd name="connsiteY3" fmla="*/ 0 h 1006741"/>
              <a:gd name="connsiteX0" fmla="*/ 0 w 5991132"/>
              <a:gd name="connsiteY0" fmla="*/ 1415815 h 1415815"/>
              <a:gd name="connsiteX1" fmla="*/ 3117255 w 5991132"/>
              <a:gd name="connsiteY1" fmla="*/ 1009665 h 1415815"/>
              <a:gd name="connsiteX2" fmla="*/ 4381124 w 5991132"/>
              <a:gd name="connsiteY2" fmla="*/ 980200 h 1415815"/>
              <a:gd name="connsiteX3" fmla="*/ 5991132 w 5991132"/>
              <a:gd name="connsiteY3" fmla="*/ 0 h 1415815"/>
              <a:gd name="connsiteX0" fmla="*/ 0 w 5991132"/>
              <a:gd name="connsiteY0" fmla="*/ 1415815 h 1415815"/>
              <a:gd name="connsiteX1" fmla="*/ 3117255 w 5991132"/>
              <a:gd name="connsiteY1" fmla="*/ 1009665 h 1415815"/>
              <a:gd name="connsiteX2" fmla="*/ 4140492 w 5991132"/>
              <a:gd name="connsiteY2" fmla="*/ 859884 h 1415815"/>
              <a:gd name="connsiteX3" fmla="*/ 5991132 w 5991132"/>
              <a:gd name="connsiteY3" fmla="*/ 0 h 1415815"/>
              <a:gd name="connsiteX0" fmla="*/ 0 w 5991132"/>
              <a:gd name="connsiteY0" fmla="*/ 1415815 h 1415815"/>
              <a:gd name="connsiteX1" fmla="*/ 3117255 w 5991132"/>
              <a:gd name="connsiteY1" fmla="*/ 1009665 h 1415815"/>
              <a:gd name="connsiteX2" fmla="*/ 4140492 w 5991132"/>
              <a:gd name="connsiteY2" fmla="*/ 859884 h 1415815"/>
              <a:gd name="connsiteX3" fmla="*/ 5359762 w 5991132"/>
              <a:gd name="connsiteY3" fmla="*/ 297067 h 1415815"/>
              <a:gd name="connsiteX4" fmla="*/ 5991132 w 5991132"/>
              <a:gd name="connsiteY4" fmla="*/ 0 h 1415815"/>
              <a:gd name="connsiteX0" fmla="*/ 0 w 5991132"/>
              <a:gd name="connsiteY0" fmla="*/ 1415815 h 1415815"/>
              <a:gd name="connsiteX1" fmla="*/ 3117255 w 5991132"/>
              <a:gd name="connsiteY1" fmla="*/ 1009665 h 1415815"/>
              <a:gd name="connsiteX2" fmla="*/ 4140492 w 5991132"/>
              <a:gd name="connsiteY2" fmla="*/ 859884 h 1415815"/>
              <a:gd name="connsiteX3" fmla="*/ 5395857 w 5991132"/>
              <a:gd name="connsiteY3" fmla="*/ 236909 h 1415815"/>
              <a:gd name="connsiteX4" fmla="*/ 5991132 w 5991132"/>
              <a:gd name="connsiteY4" fmla="*/ 0 h 1415815"/>
              <a:gd name="connsiteX0" fmla="*/ 0 w 5991132"/>
              <a:gd name="connsiteY0" fmla="*/ 1415815 h 1415815"/>
              <a:gd name="connsiteX1" fmla="*/ 3117255 w 5991132"/>
              <a:gd name="connsiteY1" fmla="*/ 1009665 h 1415815"/>
              <a:gd name="connsiteX2" fmla="*/ 4140492 w 5991132"/>
              <a:gd name="connsiteY2" fmla="*/ 1268957 h 1415815"/>
              <a:gd name="connsiteX3" fmla="*/ 5395857 w 5991132"/>
              <a:gd name="connsiteY3" fmla="*/ 236909 h 1415815"/>
              <a:gd name="connsiteX4" fmla="*/ 5991132 w 5991132"/>
              <a:gd name="connsiteY4" fmla="*/ 0 h 1415815"/>
              <a:gd name="connsiteX0" fmla="*/ 0 w 5991132"/>
              <a:gd name="connsiteY0" fmla="*/ 1415815 h 1415815"/>
              <a:gd name="connsiteX1" fmla="*/ 3117255 w 5991132"/>
              <a:gd name="connsiteY1" fmla="*/ 1009665 h 1415815"/>
              <a:gd name="connsiteX2" fmla="*/ 4152523 w 5991132"/>
              <a:gd name="connsiteY2" fmla="*/ 859884 h 1415815"/>
              <a:gd name="connsiteX3" fmla="*/ 5395857 w 5991132"/>
              <a:gd name="connsiteY3" fmla="*/ 236909 h 1415815"/>
              <a:gd name="connsiteX4" fmla="*/ 5991132 w 5991132"/>
              <a:gd name="connsiteY4" fmla="*/ 0 h 1415815"/>
              <a:gd name="connsiteX0" fmla="*/ 0 w 5991132"/>
              <a:gd name="connsiteY0" fmla="*/ 1415815 h 1708265"/>
              <a:gd name="connsiteX1" fmla="*/ 3261634 w 5991132"/>
              <a:gd name="connsiteY1" fmla="*/ 1659371 h 1708265"/>
              <a:gd name="connsiteX2" fmla="*/ 4152523 w 5991132"/>
              <a:gd name="connsiteY2" fmla="*/ 859884 h 1708265"/>
              <a:gd name="connsiteX3" fmla="*/ 5395857 w 5991132"/>
              <a:gd name="connsiteY3" fmla="*/ 236909 h 1708265"/>
              <a:gd name="connsiteX4" fmla="*/ 5991132 w 5991132"/>
              <a:gd name="connsiteY4" fmla="*/ 0 h 1708265"/>
              <a:gd name="connsiteX0" fmla="*/ 0 w 5991132"/>
              <a:gd name="connsiteY0" fmla="*/ 1415815 h 1415815"/>
              <a:gd name="connsiteX1" fmla="*/ 2912718 w 5991132"/>
              <a:gd name="connsiteY1" fmla="*/ 913413 h 1415815"/>
              <a:gd name="connsiteX2" fmla="*/ 4152523 w 5991132"/>
              <a:gd name="connsiteY2" fmla="*/ 859884 h 1415815"/>
              <a:gd name="connsiteX3" fmla="*/ 5395857 w 5991132"/>
              <a:gd name="connsiteY3" fmla="*/ 236909 h 1415815"/>
              <a:gd name="connsiteX4" fmla="*/ 5991132 w 5991132"/>
              <a:gd name="connsiteY4" fmla="*/ 0 h 1415815"/>
              <a:gd name="connsiteX0" fmla="*/ 0 w 5991132"/>
              <a:gd name="connsiteY0" fmla="*/ 1415815 h 1415815"/>
              <a:gd name="connsiteX1" fmla="*/ 2912718 w 5991132"/>
              <a:gd name="connsiteY1" fmla="*/ 913413 h 1415815"/>
              <a:gd name="connsiteX2" fmla="*/ 4152523 w 5991132"/>
              <a:gd name="connsiteY2" fmla="*/ 859884 h 1415815"/>
              <a:gd name="connsiteX3" fmla="*/ 5395857 w 5991132"/>
              <a:gd name="connsiteY3" fmla="*/ 236909 h 1415815"/>
              <a:gd name="connsiteX4" fmla="*/ 5991132 w 5991132"/>
              <a:gd name="connsiteY4" fmla="*/ 0 h 1415815"/>
              <a:gd name="connsiteX0" fmla="*/ 0 w 5991132"/>
              <a:gd name="connsiteY0" fmla="*/ 1415815 h 1415815"/>
              <a:gd name="connsiteX1" fmla="*/ 1990920 w 5991132"/>
              <a:gd name="connsiteY1" fmla="*/ 1283657 h 1415815"/>
              <a:gd name="connsiteX2" fmla="*/ 2912718 w 5991132"/>
              <a:gd name="connsiteY2" fmla="*/ 913413 h 1415815"/>
              <a:gd name="connsiteX3" fmla="*/ 4152523 w 5991132"/>
              <a:gd name="connsiteY3" fmla="*/ 859884 h 1415815"/>
              <a:gd name="connsiteX4" fmla="*/ 5395857 w 5991132"/>
              <a:gd name="connsiteY4" fmla="*/ 236909 h 1415815"/>
              <a:gd name="connsiteX5" fmla="*/ 5991132 w 5991132"/>
              <a:gd name="connsiteY5" fmla="*/ 0 h 1415815"/>
              <a:gd name="connsiteX0" fmla="*/ 0 w 5991132"/>
              <a:gd name="connsiteY0" fmla="*/ 1415815 h 1415815"/>
              <a:gd name="connsiteX1" fmla="*/ 1076520 w 5991132"/>
              <a:gd name="connsiteY1" fmla="*/ 1211468 h 1415815"/>
              <a:gd name="connsiteX2" fmla="*/ 2912718 w 5991132"/>
              <a:gd name="connsiteY2" fmla="*/ 913413 h 1415815"/>
              <a:gd name="connsiteX3" fmla="*/ 4152523 w 5991132"/>
              <a:gd name="connsiteY3" fmla="*/ 859884 h 1415815"/>
              <a:gd name="connsiteX4" fmla="*/ 5395857 w 5991132"/>
              <a:gd name="connsiteY4" fmla="*/ 236909 h 1415815"/>
              <a:gd name="connsiteX5" fmla="*/ 5991132 w 5991132"/>
              <a:gd name="connsiteY5" fmla="*/ 0 h 1415815"/>
              <a:gd name="connsiteX0" fmla="*/ 0 w 5714406"/>
              <a:gd name="connsiteY0" fmla="*/ 2125678 h 2125678"/>
              <a:gd name="connsiteX1" fmla="*/ 799794 w 5714406"/>
              <a:gd name="connsiteY1" fmla="*/ 1211468 h 2125678"/>
              <a:gd name="connsiteX2" fmla="*/ 2635992 w 5714406"/>
              <a:gd name="connsiteY2" fmla="*/ 913413 h 2125678"/>
              <a:gd name="connsiteX3" fmla="*/ 3875797 w 5714406"/>
              <a:gd name="connsiteY3" fmla="*/ 859884 h 2125678"/>
              <a:gd name="connsiteX4" fmla="*/ 5119131 w 5714406"/>
              <a:gd name="connsiteY4" fmla="*/ 236909 h 2125678"/>
              <a:gd name="connsiteX5" fmla="*/ 5714406 w 5714406"/>
              <a:gd name="connsiteY5" fmla="*/ 0 h 2125678"/>
              <a:gd name="connsiteX0" fmla="*/ 0 w 6195669"/>
              <a:gd name="connsiteY0" fmla="*/ 1319562 h 1319562"/>
              <a:gd name="connsiteX1" fmla="*/ 1281057 w 6195669"/>
              <a:gd name="connsiteY1" fmla="*/ 1211468 h 1319562"/>
              <a:gd name="connsiteX2" fmla="*/ 3117255 w 6195669"/>
              <a:gd name="connsiteY2" fmla="*/ 913413 h 1319562"/>
              <a:gd name="connsiteX3" fmla="*/ 4357060 w 6195669"/>
              <a:gd name="connsiteY3" fmla="*/ 859884 h 1319562"/>
              <a:gd name="connsiteX4" fmla="*/ 5600394 w 6195669"/>
              <a:gd name="connsiteY4" fmla="*/ 236909 h 1319562"/>
              <a:gd name="connsiteX5" fmla="*/ 6195669 w 6195669"/>
              <a:gd name="connsiteY5" fmla="*/ 0 h 131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5669" h="1319562">
                <a:moveTo>
                  <a:pt x="0" y="1319562"/>
                </a:moveTo>
                <a:cubicBezTo>
                  <a:pt x="331820" y="1297536"/>
                  <a:pt x="795604" y="1295202"/>
                  <a:pt x="1281057" y="1211468"/>
                </a:cubicBezTo>
                <a:cubicBezTo>
                  <a:pt x="1766510" y="1127734"/>
                  <a:pt x="2756988" y="984042"/>
                  <a:pt x="3117255" y="913413"/>
                </a:cubicBezTo>
                <a:lnTo>
                  <a:pt x="4357060" y="859884"/>
                </a:lnTo>
                <a:lnTo>
                  <a:pt x="5600394" y="236909"/>
                </a:lnTo>
                <a:lnTo>
                  <a:pt x="6195669" y="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8418" y="-273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000000"/>
                </a:solidFill>
              </a:rPr>
              <a:t>Augmentation </a:t>
            </a:r>
            <a:r>
              <a:rPr lang="en-CA" dirty="0" err="1">
                <a:solidFill>
                  <a:srgbClr val="000000"/>
                </a:solidFill>
              </a:rPr>
              <a:t>moyenne</a:t>
            </a:r>
            <a:r>
              <a:rPr lang="en-CA" dirty="0">
                <a:solidFill>
                  <a:srgbClr val="000000"/>
                </a:solidFill>
              </a:rPr>
              <a:t> </a:t>
            </a:r>
            <a:r>
              <a:rPr lang="en-CA" dirty="0" err="1">
                <a:solidFill>
                  <a:srgbClr val="000000"/>
                </a:solidFill>
              </a:rPr>
              <a:t>nécessaire</a:t>
            </a:r>
            <a:r>
              <a:rPr lang="en-CA" dirty="0">
                <a:solidFill>
                  <a:srgbClr val="000000"/>
                </a:solidFill>
              </a:rPr>
              <a:t> de </a:t>
            </a:r>
            <a:r>
              <a:rPr lang="en-CA" dirty="0" err="1">
                <a:solidFill>
                  <a:srgbClr val="000000"/>
                </a:solidFill>
              </a:rPr>
              <a:t>l’intervalle</a:t>
            </a:r>
            <a:r>
              <a:rPr lang="en-CA" dirty="0">
                <a:solidFill>
                  <a:srgbClr val="000000"/>
                </a:solidFill>
              </a:rPr>
              <a:t> de </a:t>
            </a:r>
            <a:r>
              <a:rPr lang="en-CA" dirty="0" err="1">
                <a:solidFill>
                  <a:srgbClr val="000000"/>
                </a:solidFill>
              </a:rPr>
              <a:t>confiance</a:t>
            </a:r>
            <a:endParaRPr lang="fr-CA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4055611"/>
              </p:ext>
            </p:extLst>
          </p:nvPr>
        </p:nvGraphicFramePr>
        <p:xfrm>
          <a:off x="518418" y="1340768"/>
          <a:ext cx="3333502" cy="410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4421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Identité</a:t>
                      </a:r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étudiant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Augmentation </a:t>
                      </a:r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moyenne</a:t>
                      </a:r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nécessaire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8/31/2026 10:32:29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8/25/2026 20:52:46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4754976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8/29/2026 17:11:05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0566742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8/31/2026 19:27:44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4318590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8/25/2026 21:20:35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0048133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8/26/2026 18:50:45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4496331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8/31/2026 18:49:18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786676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8/27/2026 17:57:13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0036177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8/30/2026 15:26:13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4070311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8/25/2026 20:14:28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8869707"/>
                  </a:ext>
                </a:extLst>
              </a:tr>
              <a:tr h="2981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8/28/2026 16:47:58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0003167"/>
                  </a:ext>
                </a:extLst>
              </a:tr>
            </a:tbl>
          </a:graphicData>
        </a:graphic>
      </p:graphicFrame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949C5638-CDBD-E3B1-1BAB-5ED5EA9B96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0007153"/>
              </p:ext>
            </p:extLst>
          </p:nvPr>
        </p:nvGraphicFramePr>
        <p:xfrm>
          <a:off x="3995936" y="1345109"/>
          <a:ext cx="3333502" cy="410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9611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Identité</a:t>
                      </a:r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étudiant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Augmentation </a:t>
                      </a:r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moyenne</a:t>
                      </a:r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CA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nécessaire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2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8/30/2026 11:40:45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1649140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8/27/2026 16:59:48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1569410"/>
                  </a:ext>
                </a:extLst>
              </a:tr>
              <a:tr h="2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8/26/2026 11:55:53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8/26/2026 8:42:16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8982%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8/28/2026 16:02:24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13464%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4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8/27/2026 20:03:18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15103%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7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8/29/2026 20:11:50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36525%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8/26/2026 14:50:05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48368%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4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8/27/2026 18:49:53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72982%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8203890"/>
                  </a:ext>
                </a:extLst>
              </a:tr>
              <a:tr h="3139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8/27/2026 13:39:00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144562%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5500229"/>
                  </a:ext>
                </a:extLst>
              </a:tr>
              <a:tr h="3274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8/30/2026 20:41:08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279039%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001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20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5800"/>
            <a:ext cx="8856984" cy="1143000"/>
          </a:xfrm>
        </p:spPr>
        <p:txBody>
          <a:bodyPr>
            <a:noAutofit/>
          </a:bodyPr>
          <a:lstStyle/>
          <a:p>
            <a:r>
              <a:rPr lang="fr-CA" sz="3600" dirty="0"/>
              <a:t>Histogramme de la proportion d’augmentation nécessaire des intervalles </a:t>
            </a:r>
            <a:br>
              <a:rPr lang="fr-CA" sz="3600" dirty="0"/>
            </a:br>
            <a:r>
              <a:rPr lang="fr-CA" sz="3200" dirty="0"/>
              <a:t>(près de 800 estimations)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988840"/>
            <a:ext cx="8723313" cy="436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5220072" y="2236579"/>
            <a:ext cx="34967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Dans ce groupe la médiane de cette proportion est 111%</a:t>
            </a:r>
          </a:p>
          <a:p>
            <a:r>
              <a:rPr lang="fr-FR" sz="2400" dirty="0"/>
              <a:t>Il faudrait doubler la taille de vos intervalles</a:t>
            </a:r>
            <a:r>
              <a:rPr lang="is-IS" sz="2400" dirty="0"/>
              <a:t>…</a:t>
            </a:r>
            <a:endParaRPr lang="fr-FR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3620</TotalTime>
  <Words>398</Words>
  <Application>Microsoft Macintosh PowerPoint</Application>
  <PresentationFormat>On-screen Show (4:3)</PresentationFormat>
  <Paragraphs>127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Consensus sur les probabilités impliquées par la terminologie</vt:lpstr>
      <vt:lpstr>Réponses de deux experts aux questions</vt:lpstr>
      <vt:lpstr>Calibration vs. Information des 10+169 participants</vt:lpstr>
      <vt:lpstr>Calibration vs. Information de 10+169 participants</vt:lpstr>
      <vt:lpstr>Augmentation moyenne nécessaire de l’intervalle de confiance</vt:lpstr>
      <vt:lpstr>Histogramme de la proportion d’augmentation nécessaire des intervalles  (près de 800 estimations)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Consensus sur les probabilités impliquées par la terminologie</dc:title>
  <dc:creator>clihec3</dc:creator>
  <cp:lastModifiedBy>Erick Delage</cp:lastModifiedBy>
  <cp:revision>65</cp:revision>
  <cp:lastPrinted>2011-09-13T21:36:13Z</cp:lastPrinted>
  <dcterms:created xsi:type="dcterms:W3CDTF">2010-09-14T21:15:06Z</dcterms:created>
  <dcterms:modified xsi:type="dcterms:W3CDTF">2026-09-01T12:48:51Z</dcterms:modified>
</cp:coreProperties>
</file>